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  <p:sldMasterId id="21474837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rimo"/>
      <p:regular r:id="rId16"/>
      <p:bold r:id="rId17"/>
      <p:italic r:id="rId18"/>
      <p:boldItalic r:id="rId19"/>
    </p:embeddedFont>
    <p:embeddedFont>
      <p:font typeface="Arimo SemiBold"/>
      <p:regular r:id="rId20"/>
      <p:bold r:id="rId21"/>
      <p:italic r:id="rId22"/>
      <p:boldItalic r:id="rId23"/>
    </p:embeddedFont>
    <p:embeddedFont>
      <p:font typeface="Azeret Mono"/>
      <p:regular r:id="rId24"/>
      <p:bold r:id="rId25"/>
      <p:italic r:id="rId26"/>
      <p:boldItalic r:id="rId27"/>
    </p:embeddedFont>
    <p:embeddedFont>
      <p:font typeface="Arimo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regular.fntdata"/><Relationship Id="rId22" Type="http://schemas.openxmlformats.org/officeDocument/2006/relationships/font" Target="fonts/ArimoSemiBold-italic.fntdata"/><Relationship Id="rId21" Type="http://schemas.openxmlformats.org/officeDocument/2006/relationships/font" Target="fonts/ArimoSemiBold-bold.fntdata"/><Relationship Id="rId24" Type="http://schemas.openxmlformats.org/officeDocument/2006/relationships/font" Target="fonts/AzeretMono-regular.fntdata"/><Relationship Id="rId23" Type="http://schemas.openxmlformats.org/officeDocument/2006/relationships/font" Target="fonts/Arimo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zeretMono-italic.fntdata"/><Relationship Id="rId25" Type="http://schemas.openxmlformats.org/officeDocument/2006/relationships/font" Target="fonts/AzeretMono-bold.fntdata"/><Relationship Id="rId28" Type="http://schemas.openxmlformats.org/officeDocument/2006/relationships/font" Target="fonts/ArimoMedium-regular.fntdata"/><Relationship Id="rId27" Type="http://schemas.openxmlformats.org/officeDocument/2006/relationships/font" Target="fonts/AzeretMon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Medium-boldItalic.fntdata"/><Relationship Id="rId30" Type="http://schemas.openxmlformats.org/officeDocument/2006/relationships/font" Target="fonts/ArimoMedium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mo-bold.fntdata"/><Relationship Id="rId16" Type="http://schemas.openxmlformats.org/officeDocument/2006/relationships/font" Target="fonts/Arimo-regular.fntdata"/><Relationship Id="rId19" Type="http://schemas.openxmlformats.org/officeDocument/2006/relationships/font" Target="fonts/Arimo-boldItalic.fntdata"/><Relationship Id="rId18" Type="http://schemas.openxmlformats.org/officeDocument/2006/relationships/font" Target="fonts/Arim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622edb9f3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d622edb9f3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63d8865e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d63d8865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d63d8865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d63d8865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622edb9f3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d622edb9f3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d63d8865e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d63d8865e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63d8865e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d63d8865e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63d8865e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63d8865e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d63d8865e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d63d8865e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d63d8865e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d63d8865e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64" name="Google Shape;64;p1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6" name="Google Shape;66;p1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2" name="Google Shape;82;p1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3" name="Google Shape;83;p1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4" name="Google Shape;84;p1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5" name="Google Shape;85;p1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6" name="Google Shape;86;p1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7" name="Google Shape;87;p1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2" name="Google Shape;102;p1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3" name="Google Shape;103;p1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4" name="Google Shape;104;p1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5" name="Google Shape;105;p1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6" name="Google Shape;106;p1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123" name="Google Shape;123;p1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4" name="Google Shape;124;p1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5" name="Google Shape;125;p1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6" name="Google Shape;126;p1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9" name="Google Shape;149;p2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5" name="Google Shape;155;p2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" name="Google Shape;163;p2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1" name="Google Shape;181;p2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2" name="Google Shape;182;p2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" name="Google Shape;183;p2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2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3" name="Google Shape;193;p2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4" name="Google Shape;194;p2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5" name="Google Shape;195;p2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0" name="Google Shape;200;p2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1" name="Google Shape;201;p2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2" name="Google Shape;202;p2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0" name="Google Shape;220;p2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1" name="Google Shape;221;p2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2" name="Google Shape;222;p2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8" name="Google Shape;228;p3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3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4" name="Google Shape;234;p3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5" name="Google Shape;235;p3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6" name="Google Shape;236;p3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7" name="Google Shape;237;p3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3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3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2" name="Google Shape;242;p3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8" name="Google Shape;258;p3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" name="Google Shape;260;p3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1" name="Google Shape;261;p3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2" name="Google Shape;262;p3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3" name="Google Shape;263;p3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4" name="Google Shape;264;p3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5" name="Google Shape;265;p3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68" name="Google Shape;268;p33"/>
          <p:cNvCxnSpPr>
            <a:stCxn id="266" idx="1"/>
            <a:endCxn id="266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3" name="Google Shape;273;p3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5" name="Google Shape;275;p3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7" name="Google Shape;287;p3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95" name="Google Shape;29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4" name="Google Shape;31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4" name="Google Shape;344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4" name="Google Shape;354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0" name="Google Shape;360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8" name="Google Shape;368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9" name="Google Shape;379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43" Type="http://schemas.openxmlformats.org/officeDocument/2006/relationships/theme" Target="../theme/theme3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idx="1" type="subTitle"/>
          </p:nvPr>
        </p:nvSpPr>
        <p:spPr>
          <a:xfrm>
            <a:off x="5152954" y="3347050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/>
              <a:t>BY: HAILIN</a:t>
            </a:r>
            <a:endParaRPr sz="1800"/>
          </a:p>
        </p:txBody>
      </p:sp>
      <p:sp>
        <p:nvSpPr>
          <p:cNvPr id="398" name="Google Shape;398;p56"/>
          <p:cNvSpPr txBox="1"/>
          <p:nvPr>
            <p:ph type="title"/>
          </p:nvPr>
        </p:nvSpPr>
        <p:spPr>
          <a:xfrm>
            <a:off x="966975" y="46800"/>
            <a:ext cx="6828300" cy="2803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FOOD DELIVERY TIME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7"/>
          <p:cNvSpPr txBox="1"/>
          <p:nvPr>
            <p:ph idx="1" type="subTitle"/>
          </p:nvPr>
        </p:nvSpPr>
        <p:spPr>
          <a:xfrm>
            <a:off x="688600" y="1700225"/>
            <a:ext cx="7579200" cy="30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-Food delivery is used a lot in everyday life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-Delivery time directly affects customer satisfaction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-I wanted to understand what factors cause delays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-Focused on distance and traffic because they are common factors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7"/>
          <p:cNvSpPr txBox="1"/>
          <p:nvPr>
            <p:ph type="title"/>
          </p:nvPr>
        </p:nvSpPr>
        <p:spPr>
          <a:xfrm>
            <a:off x="688600" y="88225"/>
            <a:ext cx="71175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 CHOSE THIS?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8"/>
          <p:cNvSpPr txBox="1"/>
          <p:nvPr>
            <p:ph idx="1" type="subTitle"/>
          </p:nvPr>
        </p:nvSpPr>
        <p:spPr>
          <a:xfrm>
            <a:off x="821000" y="1600675"/>
            <a:ext cx="7231200" cy="28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</a:rPr>
              <a:t>Data Description:</a:t>
            </a:r>
            <a:endParaRPr b="1"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-Includes distance, traffic level, delivery time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-Also includes weather, vehicle type, and time of day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-Used to analyze what affects delivery performance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99CC6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0" name="Google Shape;410;p58"/>
          <p:cNvSpPr txBox="1"/>
          <p:nvPr>
            <p:ph type="title"/>
          </p:nvPr>
        </p:nvSpPr>
        <p:spPr>
          <a:xfrm>
            <a:off x="821000" y="95700"/>
            <a:ext cx="68826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411" name="Google Shape;411;p58"/>
          <p:cNvSpPr txBox="1"/>
          <p:nvPr/>
        </p:nvSpPr>
        <p:spPr>
          <a:xfrm>
            <a:off x="1636075" y="4545325"/>
            <a:ext cx="73893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Azeret Mono"/>
                <a:ea typeface="Azeret Mono"/>
                <a:cs typeface="Azeret Mono"/>
                <a:sym typeface="Azeret Mono"/>
              </a:rPr>
              <a:t>SOURCE:https://www.kaggle.com/datasets/denkuznetz/food-delivery-time-prediction</a:t>
            </a:r>
            <a:endParaRPr sz="1000">
              <a:solidFill>
                <a:schemeClr val="dk1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9"/>
          <p:cNvSpPr txBox="1"/>
          <p:nvPr>
            <p:ph idx="1" type="subTitle"/>
          </p:nvPr>
        </p:nvSpPr>
        <p:spPr>
          <a:xfrm>
            <a:off x="874475" y="1967600"/>
            <a:ext cx="6600300" cy="27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-Does traffic level change how distance affects delivery time?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-How much additional delivery time is caused by traffic compared to distance?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59"/>
          <p:cNvSpPr txBox="1"/>
          <p:nvPr>
            <p:ph type="title"/>
          </p:nvPr>
        </p:nvSpPr>
        <p:spPr>
          <a:xfrm>
            <a:off x="373725" y="216500"/>
            <a:ext cx="92883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0"/>
          <p:cNvSpPr txBox="1"/>
          <p:nvPr>
            <p:ph idx="1" type="subTitle"/>
          </p:nvPr>
        </p:nvSpPr>
        <p:spPr>
          <a:xfrm>
            <a:off x="1642350" y="2031750"/>
            <a:ext cx="5859300" cy="199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-Pandas : data handling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-Seaborn : visualization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-Sklearn : linear regression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60"/>
          <p:cNvSpPr txBox="1"/>
          <p:nvPr>
            <p:ph type="title"/>
          </p:nvPr>
        </p:nvSpPr>
        <p:spPr>
          <a:xfrm>
            <a:off x="677900" y="234725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USED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/>
          <p:nvPr>
            <p:ph idx="1" type="subTitle"/>
          </p:nvPr>
        </p:nvSpPr>
        <p:spPr>
          <a:xfrm>
            <a:off x="371150" y="1521625"/>
            <a:ext cx="5413500" cy="26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-Delivery time increases with distance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-Higher traffic points are higher overall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-Traffic increases delivery time at same distance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61"/>
          <p:cNvSpPr txBox="1"/>
          <p:nvPr>
            <p:ph type="title"/>
          </p:nvPr>
        </p:nvSpPr>
        <p:spPr>
          <a:xfrm>
            <a:off x="489025" y="0"/>
            <a:ext cx="7973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VS DELIVERY</a:t>
            </a:r>
            <a:endParaRPr/>
          </a:p>
        </p:txBody>
      </p:sp>
      <p:pic>
        <p:nvPicPr>
          <p:cNvPr id="430" name="Google Shape;430;p61" title="Screenshot 2026-04-15 at 12.08.5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200" y="1584150"/>
            <a:ext cx="3254075" cy="274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2"/>
          <p:cNvSpPr txBox="1"/>
          <p:nvPr>
            <p:ph idx="1" type="subTitle"/>
          </p:nvPr>
        </p:nvSpPr>
        <p:spPr>
          <a:xfrm>
            <a:off x="-150250" y="1735950"/>
            <a:ext cx="5908800" cy="24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-Shows distribution of delivery time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-Higher traffic shifts values to the right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-High traffic has longer delivery times overall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62"/>
          <p:cNvSpPr txBox="1"/>
          <p:nvPr>
            <p:ph type="title"/>
          </p:nvPr>
        </p:nvSpPr>
        <p:spPr>
          <a:xfrm>
            <a:off x="656250" y="51400"/>
            <a:ext cx="75003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BY TRAFFIC</a:t>
            </a:r>
            <a:endParaRPr/>
          </a:p>
        </p:txBody>
      </p:sp>
      <p:pic>
        <p:nvPicPr>
          <p:cNvPr id="437" name="Google Shape;437;p62" title="Screenshot 2026-04-15 at 1.08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1625" y="1182625"/>
            <a:ext cx="3120649" cy="32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3"/>
          <p:cNvSpPr txBox="1"/>
          <p:nvPr>
            <p:ph idx="1" type="subTitle"/>
          </p:nvPr>
        </p:nvSpPr>
        <p:spPr>
          <a:xfrm>
            <a:off x="840300" y="1888125"/>
            <a:ext cx="6894300" cy="25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-Linear regression was used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-Distance has a strong positive effect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-Traffic adds additional delay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-Both variables predict delivery time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63"/>
          <p:cNvSpPr txBox="1"/>
          <p:nvPr>
            <p:ph type="title"/>
          </p:nvPr>
        </p:nvSpPr>
        <p:spPr>
          <a:xfrm>
            <a:off x="667500" y="94250"/>
            <a:ext cx="78090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4"/>
          <p:cNvSpPr txBox="1"/>
          <p:nvPr>
            <p:ph idx="1" type="subTitle"/>
          </p:nvPr>
        </p:nvSpPr>
        <p:spPr>
          <a:xfrm>
            <a:off x="821000" y="1896675"/>
            <a:ext cx="7858800" cy="26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-Distance and traffic both impact delivery time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-Traffic increases delays beyond distance alone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-Understanding this can improve delivery efficiency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64"/>
          <p:cNvSpPr txBox="1"/>
          <p:nvPr>
            <p:ph type="title"/>
          </p:nvPr>
        </p:nvSpPr>
        <p:spPr>
          <a:xfrm>
            <a:off x="821000" y="11565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